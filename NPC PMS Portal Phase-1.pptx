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28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6951" y="1354455"/>
            <a:ext cx="4469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PMS Portal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858128" y="2192655"/>
            <a:ext cx="75754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Management System Web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-1538341" y="2817495"/>
            <a:ext cx="1246370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Non-Revenue Assignment Tracking | </a:t>
            </a:r>
          </a:p>
          <a:p>
            <a:pPr marL="0" indent="0" algn="ctr">
              <a:lnSpc>
                <a:spcPts val="189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 &amp; Milestone Planning | Officer Revenue Sharing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14780" y="3602355"/>
            <a:ext cx="5216027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Productivity Council | Phase-1 Implementation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compilation of PMS table (5-7 days, error-prone)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tracking of cost estimates vs actuals per assignment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revenue sharing calculation among officers on same assignment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approvals for invoices scattered across emails and files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 of assignment progress and milestones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data and PMS metrics not reconciled automatically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Portal Solution (Phase-1)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web-based portal for assignment lifecycle (Enquiry → Closure)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workflows for Revenue and Non-Revenue activities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estimate &amp; milestone planning with version control and audit trail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Phase-I revenue sharing: percentage-based allocation to officers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invoice request and finance verification workflow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Tally integration for estimate vs actual comparison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PMS table generation for RD/Group-wise performance review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1: Assignment Lifecycle (Enquiry → Work Order)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66116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Activities (4-Stage):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" y="2087880"/>
            <a:ext cx="9144000" cy="289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Enquiry → 2. Proposal Request → 3. Proposal Submission → 4. Work Order → Invoice → Closed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45364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Non-Revenue Activities (4-Stage):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6523" y="2880360"/>
            <a:ext cx="837637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Suggestion → 2. Proposal Request → 3. Proposal Submission → 4. Execution → Closed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324612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Data: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1104" y="3672841"/>
            <a:ext cx="808329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type, office, domain, client, target value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System-generated unique Enquiry/Proposal Request/Proposal/Work Order numbers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allocations at each stage with target dates &amp; milestones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to Tally cost centre (only at Work Order stage)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2: Cost Estimate (Expenditure)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Registration, Capture: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6862" y="1676400"/>
            <a:ext cx="85531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costs by expenditure head: External Manpower, Travel, B&amp;L, Publication, Admin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cost = baseline for comparison with Tally actuals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40792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 &amp; Audit: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6862" y="2834641"/>
            <a:ext cx="81475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anytime with mandatory "Reason for Change"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preserved; revenue uses allocation version effective on invoice date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3: Milestone Plan &amp; Invoice Linkage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46185" y="1249680"/>
            <a:ext cx="8630529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Definition: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Name, target date, planned invoice amount/percentage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Mapping: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invoice request links to a milestone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vs Actual: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Track planned milestone invoicing vs actual invoices raised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Like cost estimate, milestones can be revised with reasons and history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Phase-II: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Enables future milestone-wise revenue allocation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4: Team Allocation (Phase-I Percentage)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32117" y="1249680"/>
            <a:ext cx="8302283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DG (CEO), DDG/Head/Team Leader (admin), Officer (execution only)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person can be DDG + Head + Officer; </a:t>
            </a:r>
          </a:p>
          <a:p>
            <a:pPr marL="1714500" lvl="3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Officer role participates in revenue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Allocation: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officer assigned %, sum = 100%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Anytime: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Change team, percentages with reason; versions tracked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Calc: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257300" lvl="2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amount × Officer % per allocation version = officer's revenue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5: Invoice Request &amp; Finance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invoice requests via Portal Only: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1104" y="1676400"/>
            <a:ext cx="8083296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Leader raises request (Advance or Subsequent)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verifies: cost estimate, milestones, team allocation, progress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approves and links Tally voucher (company, cost centre, voucher #, amount)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98323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409950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scattered e-Files; complete audit trail of approvals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ensures data completeness before Tally invoicing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6: TallyPrime Integration (Read-Only)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1249682"/>
            <a:ext cx="8083296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ODBC/XML from Tally to PMS (via scheduled batch job)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Pulled: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Revenue by cost centre, expenditure by cost centre &amp; head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Assignment ↔ Tally cost centre; expenditure ledgers ↔ expense heads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Write-Back: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PMS reads Tally; finance manually enters voucher refs in PMS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PMS validates Tally data consistency; highlights discrepancies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7: Estimate vs Actual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Assignment Report: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1104" y="1676400"/>
            <a:ext cx="8083296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Expenditure: Estimated vs Actual by head, variance %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Planned assignment value vs actual received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Estimated margin vs actual margin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Milestones: Planned invoice dates/amounts vs actual invoices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Revenue: Planned % share vs actual revenue share per officer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36766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103373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evaluation: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assignment stay within cost?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Was revenue achieved?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Officer contributions accurate?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3163"/>
            <a:ext cx="8133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8: Automated PMS Table (RD/Group-wise)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98585" y="651803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Columns: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03385" y="1078526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RD/Group, Annual Target, Period Target (from budget master)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Earned (Tally invoices by cost centre)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 % = Revenue ÷ Period Target × 100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Expenditure (Tally expenses by cost centre)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Surplus/Deficit = Revenue − Expenditure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per Consultant (headcount)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1737" y="3577885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3928404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to existing PMS table, but auto-generated in seconds, not days</a:t>
            </a:r>
            <a:endParaRPr lang="en-US" sz="1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9" y="67994"/>
            <a:ext cx="8989255" cy="54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9: Event-Based Data Entry &amp; Officer Grievance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2608" y="71276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 Points (Portal Only):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5904" y="1139480"/>
            <a:ext cx="76200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1 - Registration: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 &amp; Admin role only; captures assignment, cost estimate, milestones, team allocation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2 - Invoice Request: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 &amp; Admin role only; linked to milestone, includes FY period &amp; 80-20 revenue recognition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" y="264061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 (View-Only with Complaint):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5904" y="3067336"/>
            <a:ext cx="7620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assignment data, cost estimates, milestones, personal team allocation %, revenue share calculation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Complaint Ticket: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data inconsistency found OR performance shown not meeting expectation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 triggers </a:t>
            </a:r>
            <a:r>
              <a:rPr lang="en-US" sz="1600" b="1" dirty="0">
                <a:solidFill>
                  <a:srgbClr val="00B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grievance escalation workflow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next slide)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41" y="201929"/>
            <a:ext cx="8918917" cy="49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10: Officer Grievance &amp; Escalation Mechanism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1" y="929639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Request Types: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351" y="1356362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can request changes: work allocation %, cost estimation revision, revenue sharing adjustment, milestone target date change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1" y="216217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Timeline (Auto-Escalated if Unresolved):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999" y="2584648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(Days 1-7):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 → Head discussion &amp; resolution attempt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 (Days 8-21):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Head → DDG review &amp; decision if TL-Head unresolved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4+ (Day 22+):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DDG → DG final escalation if DDG action pending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1692" y="3891628"/>
            <a:ext cx="8261955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tracks resolution status &amp; timelines; notifications sent at each escalation level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516" y="124265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11: Revenue Sharing Linked to</a:t>
            </a:r>
          </a:p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Finance Year &amp; 80-20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4516" y="117582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Request Form Enhancement: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9316" y="1602547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field: </a:t>
            </a: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Period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(which finance year revenue is allocated to)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officer revenue share to correct financial year for MOM reporting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516" y="2486465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80-20 Revenue Recognition: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516" y="2913188"/>
            <a:ext cx="79248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Invoice Raising (80%):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credited 80% of revenue share immediately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Payment Receipt (20%):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Finance updates portal with client payment confirmation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Auto-Allocation: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Remaining 20% revenue automatically allocated to officer upon payment update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tracking: Invoice Revenue vs Payment Realized Revenue per officer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12: Role-Based Permissions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 &amp; Permissions: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5422" y="1676400"/>
            <a:ext cx="875713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View, forward, MIS only (no edits, no revenue)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DDG: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Register, approve, view MIS, resolve grievances (admin role only)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Head/Team Leader: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Allocate, edit estimates, initiate invoices, respond to grievances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View all data, accept work, view own revenue share (80% &amp; 20%), raise complaints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invoices, link Tally vouchers, update payment receipts for 20% allocation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38290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25576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Officer role → revenue share; TL/Head/DDG are administrative only</a:t>
            </a:r>
          </a:p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One person may have </a:t>
            </a:r>
            <a:r>
              <a:rPr lang="en-US" sz="16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multi-role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in an assignment and participate in </a:t>
            </a:r>
            <a:r>
              <a:rPr lang="en-US" sz="1600" dirty="0">
                <a:solidFill>
                  <a:srgbClr val="00B0F0"/>
                </a:solidFill>
                <a:latin typeface="Arial" pitchFamily="34" charset="0"/>
                <a:cs typeface="Arial" pitchFamily="34" charset="-120"/>
              </a:rPr>
              <a:t>multi-assignment 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simultaneously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13: MIS &amp; Performance Reports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0929" y="1249682"/>
            <a:ext cx="8133471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Assignment-wise: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Assignment, client, status, budget vs actual cost, revenue, margin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Officer-wise: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Officer, assignments, roles, total revenue share, period summary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Office-wise: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RD/Group, total revenue, expenditure, surplus, % achievement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Domain-wise: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Domain, revenue mix, activity types (Consultancy, Training, etc.)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reports to Excel; optional Power BI dashboards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Highlights (Enhanced)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Tables (22+):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777" y="1676400"/>
            <a:ext cx="8982223" cy="274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Assignment, User, Office, Domain, Activity Types, Expenditure Heads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AssignmentRole (multi-role per user per assignment)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CostEstimateVersion/Detail (editable, versioned, audit trail)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TeamAllocationVersion/Detail (% share, audited, FY-linked)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MilestonePlanVersion/Milestone (planned invoices, versioned)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InvoiceRequest (80% recognized, links to FY period), InvoicePaymentReceipt (20% realization)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OfficerComplaintTicket (grievance tracking, escalation status, timelines)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TallyVoucherLink (read-only invoice mapping)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4432493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537210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% sum = 100%, no overlapping version dates, event-based entry (Registration &amp; Invoice only), Tally read-only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(3-Tier)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Web Portal (Frontend)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668776"/>
            <a:ext cx="8320102" cy="20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Browser-based; assignment forms, dashboards, reports (React/Vue/Angular recommended)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04216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Application Server (Backend)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4688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API, workflow engine, authorization, Tally integration service, </a:t>
            </a:r>
          </a:p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(Python/FastAPI or Node.js/Express)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305856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Databases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423143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database (PostgreSQL/SQL Server), TallyPrime (separate, read-only ODBC access)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043" y="143022"/>
            <a:ext cx="8330418" cy="466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Stage 1: Enquiry Registration (Revenue)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75614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Enquiry: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5904" y="1182858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Enquiry Number (auto-incremented)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Client, domain, officer allocated, target date (proposal request from client)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Client sends request for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517" y="243459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Role: View Only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1104" y="2866874"/>
            <a:ext cx="8454683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views assigned enquiry, target date, milestone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Attached: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Enquiry handling tracked in MIS only (No. of Enquiries allocated)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progress; signal when client sends proposal request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846" y="201934"/>
            <a:ext cx="8968154" cy="550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Stage 2: Proposal Request Registration (Revenue)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1460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Proposal Request: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99" y="1572803"/>
            <a:ext cx="8210843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Proposal Request Number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Enquiry; allocate same or different officer; target date (work order from client)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Client sends work order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1104" y="286285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Role: View &amp; Update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72794" y="3350164"/>
            <a:ext cx="7929958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views proposal request, begins proposal preparation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Attached: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 tracks No. of Proposal Requests created per officer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when proposal submitted to client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839" y="185522"/>
            <a:ext cx="8583637" cy="538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Stage 3: Proposal Submission (Revenue)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6382" y="87688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Proposal Submitted: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182" y="1303602"/>
            <a:ext cx="8083296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Proposal Number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Proposal Request; estimated value (target value for potential work order)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Client sends work order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6382" y="261043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Role: View Only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182" y="3037148"/>
            <a:ext cx="792011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views proposal submitted, estimated value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Attached Yet: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2171700" lvl="4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tracks No. of Proposals submitted, </a:t>
            </a:r>
          </a:p>
          <a:p>
            <a:pPr marL="2171700" lvl="4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value per officer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Awaits client work order / decision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467" y="145366"/>
            <a:ext cx="884388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Stage 4: Work Order Registration </a:t>
            </a:r>
          </a:p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(Revenue Starts)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118872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TL/Admin Registers Work Order: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5114" y="1532208"/>
            <a:ext cx="8561599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generates unique Work Order Number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Proposal; captures real revenue from client work order (can differ from proposal)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= Successful completion of work + receipt of total revenue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allocation: officer assigned %, cost estimate (expenditure by head), milestone plan created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0352" y="317871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Role: Accept Work &amp; Update Progress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3659659"/>
            <a:ext cx="7868059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Attached (80-20 Model):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800100" lvl="1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% × Work Order value = revenue share tracking begins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now tracks: No. of Work Orders received with total value, officer contribution %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phase begins: TL initiates invoices, Finance approves, Payments tracked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9548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Performance MIS: Pre-Revenue Activity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38684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Attached (Enquiry → Proposal Stages):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87882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Enquiries Allocated: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of enquiries assigned to officer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Enquiry Conversion: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of enquiries that converted to Proposal Request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Proposals Submitted: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of proposals sent to clients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Proposed Value: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 of estimated values in proposals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Work Orders Received: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of proposals converted to Work Orders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WO Value: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 of actual work order values (real revenue)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 %: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(WO Count ÷ Proposal Count) × 100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508635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Attached (Work Order Onwards):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551306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% revenue share per WO, invoice value, 80% at invoice, 20% at payment realization (see Slide 14)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3911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Non-Revenue Activity Workflow (4-Stage)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Suggestion/Idea Registration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3495" y="1555068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Officer/TL suggests activity (training, research, advisory), </a:t>
            </a:r>
          </a:p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date = Detailed proposal from Head/DDG/DG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027216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Proposal Request to Authority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392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sent to Head/DDG/DG, target date = Approval/detailed proposal 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275844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Detailed Proposal Preparation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108964"/>
            <a:ext cx="826008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Head/DDG approves concept, cost estimate, milestones captured, notional value assigned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339851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Execution (Non-Revenue Work Order)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825246"/>
            <a:ext cx="792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executes, milestones tracked, </a:t>
            </a:r>
          </a:p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notional revenue recorded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system;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049" y="89095"/>
            <a:ext cx="870790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Workflow: </a:t>
            </a:r>
          </a:p>
          <a:p>
            <a:pPr marL="0" indent="0" algn="ctr">
              <a:lnSpc>
                <a:spcPts val="3240"/>
              </a:lnSpc>
              <a:buNone/>
            </a:pPr>
            <a:r>
              <a:rPr lang="en-US" sz="2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→ Work Order → Invoice → Payment + Grievance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1353" y="912495"/>
            <a:ext cx="8771207" cy="3074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Registered: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 allocates officer (No. of Enquiries KPI)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Request Registered: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requests proposal (No. Enquiry Conversion KPI)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Submitted: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submits to client (No. Proposals, Total Proposed Value KPI)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Order Received: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Client approves work order with real value (No. WO, Total WO Value, Revenue Sharing Starts)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Allocation &amp; Cost Estimate: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Officer %, cost estimate, milestones created; officer reviews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Can Raise Complaint: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allocation % wrong or data inconsistent → TL-Head→DDG→DG escalation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Raised: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TL requests invoice (specifies FY period), Finance approves; 80% officer revenue recorded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Received: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Finance updates payment receipt; remaining 20% auto-allocated to officer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5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Closed:</a:t>
            </a: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milestones achieved, invoices settled, complaints resolved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Audit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Access: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76400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(RBAC); SSO/AD integration optional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management, HTTPS encryption, secure credential storage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40792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(Event-Based &amp; Versioned):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93693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logs: Registration &amp; Invoice events only; who, what, when, reason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for cost estimates, milestones, team allocations with change justification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Grievance workflow: complaint raised, responses, escalation dates &amp; resolution tracked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receipt updates trigger 20% auto-allocation; tracked with timestamp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changes linked to specific FY period for revenue recognition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(Current):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676400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Revenue/Non-Revenue workflows, </a:t>
            </a:r>
          </a:p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percentage-based revenue sharing, </a:t>
            </a:r>
          </a:p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vs actual, PMS table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244719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Phase-2 (Future):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87391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Milestone-wise percentage allocation, auto-billing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3239676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Phase-3/4 (Future):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666394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68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Work-package based allocation, complex revenue mapping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Phase-1 Deliverables (Proposed Timeline)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5422" y="1249682"/>
            <a:ext cx="873603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Design &amp; database schema (event-based entry, grievance, 80-20 revenue tables)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3-6: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Core APIs (Assignment Registration, Cost Estimate, </a:t>
            </a:r>
          </a:p>
          <a:p>
            <a:pPr lvl="2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Team Allocation, Invoice with FY period)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7-8: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Grievance &amp; complaint management APIs (escalation workflow, timelines)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9-10: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 receipt &amp; 20% auto-allocation service; Officer view dashboard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11-12: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Frontend UI (Registration, Invoice, Grievance forms; Officer dashboard; reports)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Tally integration, testing, UAT with sample data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14: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Deployment, training, go-live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02082"/>
            <a:ext cx="7924800" cy="1056084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58166"/>
            <a:ext cx="7924800" cy="125872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716899"/>
            <a:ext cx="7924800" cy="125872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6306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026918"/>
            <a:ext cx="76169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96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table: 5-7 days → 2 minutes; event-based entry reduces data entry burden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" y="2686766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&amp; Grievance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083003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complaints tracked, escalated transparently; </a:t>
            </a:r>
          </a:p>
          <a:p>
            <a:pPr marL="285750" indent="-285750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 resolved within 1 month; 80-20 revenue recognition ensures clarity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" y="373750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 &amp; Compliance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341735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assignment tracking, FY-linked revenue, </a:t>
            </a:r>
          </a:p>
          <a:p>
            <a:pPr marL="285750" indent="-285750">
              <a:lnSpc>
                <a:spcPts val="1596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payment realization; Tally reconciliation, immutable audit trail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Approval of SRS and design by NPC management &amp; IT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Finalize tech stack (backend framework, frontend, database)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Vendor/Coder selection for development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Project kickoff: design review, architecture finalization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Identify pilot group (2-3 RDs)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Prepare data migration plan for existing assignments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9096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Differentiators of Phase-1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11953" y="540445"/>
            <a:ext cx="8805438" cy="5006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Lifecycle (Enquiry → Work Order):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Pre-revenue KPIs (enquiry count, conversion %, proposal value) + revenue-based KPIs (WO value, revenue share)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Event-Based Entry (TL/Admin only):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Registration &amp; Invoice events only; officer view-only with complaint escalation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Grievance Mechanism: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Structured escalation TL→Head→DDG→DG within defined timelines; ensures fairness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80-20 Revenue Recognition: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80% at invoice, 20% at payment realization; linked to FY period; auto-allocated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stage (Enquiry, Proposal Request, Proposal, WO), Invoice, Complaint, Payment logged with timestamps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Tally Integration (Read-Only):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Auto-pulls revenue &amp; expense data; reconciles with PMS; no manual file-opening</a:t>
            </a:r>
            <a:endParaRPr lang="en-US" sz="14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PMS Table:</a:t>
            </a: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 centre breakup from Tally fed into MOM-format table; 5-7 days → 2 minutes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9915" y="1335416"/>
            <a:ext cx="53641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25415" y="2112652"/>
            <a:ext cx="6970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Centralized, Fair &amp; Automated Performance Management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684152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4-Stage Lifecycle | Officer grievance escalation | </a:t>
            </a:r>
          </a:p>
          <a:p>
            <a:pPr marL="0" indent="0" algn="ctr">
              <a:lnSpc>
                <a:spcPts val="189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80-20 revenue | Pre &amp; Post-WO KPIs | Auto PMS reporting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2847</Words>
  <Application>Microsoft Office PowerPoint</Application>
  <PresentationFormat>On-screen Show (16:9)</PresentationFormat>
  <Paragraphs>311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Vijay Kumar</cp:lastModifiedBy>
  <cp:revision>35</cp:revision>
  <dcterms:created xsi:type="dcterms:W3CDTF">2026-01-18T02:34:06Z</dcterms:created>
  <dcterms:modified xsi:type="dcterms:W3CDTF">2026-01-18T03:12:07Z</dcterms:modified>
</cp:coreProperties>
</file>