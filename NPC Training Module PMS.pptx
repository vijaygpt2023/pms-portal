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18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1077" y="1354455"/>
            <a:ext cx="58618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Training Module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200357" y="2192655"/>
            <a:ext cx="6743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 Lifecycle &amp; Revenue Tracking in PMS Portal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2817495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Announcement | Participant Applications | Training Delivery | Revenue Recognition | Closure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57234" y="3602355"/>
            <a:ext cx="302941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Productivity Council | Phase-1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9613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Activities in PMS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73621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= Special Case of Revenue Activity: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1162930"/>
            <a:ext cx="8083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Public/Open programmes with external participants (unlike consulting which is client-specific)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training fees collected per participant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5-stage lifecycle (Programme Announcement → Participant Application → Training Conducted → Revenue Received → Closure)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1104" y="277837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Main PMS Portal: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1103" y="3205090"/>
            <a:ext cx="836230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 registered as special "Work Order" with participant count &amp; fee per participant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recognized based on actual participants vs budgeted; officer revenue share calculated at training completion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audit trail, grievance, 80-20 revenue model applies same as consulting assignments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17231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5-Stage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5731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Programme Announcement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0352" y="118403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details published (topic, dates, location, budgeted fee, budgeted participants)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154979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Participant Application Receipt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197651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received, registrations processed, final participant count confirmed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34227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Training Conducted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76899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delivered, attendance tracked, performance evaluation completed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313475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Revenue Received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" y="356147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fees collected from participants; invoiced to organization/department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392723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Closed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" y="435395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issued, final revenue settled, programme completion records finalized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25791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Programme Announcement Registration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107735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Programme: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3895" y="1504072"/>
            <a:ext cx="859536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</a:t>
            </a: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 Number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Title, topic/domain, training dates, location (in-person/online), trainer(s) allocated with %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Budgeted: participant count (e.g., 50), fee per participant (e.g., ₹5,000), total budgeted revenue (₹2.5 lakhs)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Close date for participant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1104" y="354242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 (Trainer): View &amp; Accept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5904" y="3969141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views programme details, trainer allocation %, acceptance date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Yet: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 tracks: No. of Programmes assigned to trainer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23" y="96129"/>
            <a:ext cx="92096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Participant Application Receipt &amp; Registration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8332" y="79130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Processes Applications: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371" y="1230924"/>
            <a:ext cx="8845297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received (web form or email), documented in portal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records: </a:t>
            </a: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Participant Count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45 vs 50 budgeted)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Target = Training delivery date(s)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Revenue Anticipated: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 Count × Fee per participant (45 × ₹5,000 = ₹2.25 lakhs)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8332" y="280826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 (Trainer): View &amp; Prepare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8704" y="3294771"/>
            <a:ext cx="8083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views confirmed participant count, prepares training materials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Yet: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 tracks: No. of Programmes with actual participants registered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348" y="117231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Training Conducted &amp; Completion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9348" y="75731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Training Completion: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8388" y="1184031"/>
            <a:ext cx="819443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records training delivery dates, attendance (participants attended), performance metrics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Attending Participants: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who completed (e.g., 42 out of 45 registered)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(Officer) updates completion feedback, certificate status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Target = Revenue collection from participants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9348" y="291377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 (Trainer): View &amp; Update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8387" y="3340492"/>
            <a:ext cx="85390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views attendance, provides feedback on learning outcomes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Calculation Begins: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lvl="1">
              <a:lnSpc>
                <a:spcPts val="243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Attending Count × Fee × Trainer % (42 × ₹5,000 × trainer% = officer's revenue)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tracks: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Trainings conducted, total participants trained, training completion rate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314" y="19812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Revenue Received &amp; 80-20 Recognition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2314" y="83820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Initiates Training Invoice: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2314" y="1264920"/>
            <a:ext cx="79248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Raised: Actual Attending Participants × Fee per participant = Total Training Revenue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42 participants × ₹5,000 = ₹2.1 lakhs (less than budgeted ₹2.5 lakhs)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verifies: cost estimate (trainer honorarium, materials, venue), approves invoice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314" y="25717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80-20 Revenue Recognition (Same as Consulting):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8388" y="2998470"/>
            <a:ext cx="797872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at Invoice (₹1.68 lakhs):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credited 80% of (Total Revenue × Trainer %)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at Payment Receipt: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Finance updates actual cash receipt; remaining 20% (₹0.42 lakhs) auto-allocated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period specified: Revenue linked to correct financial year for MOM reporting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5: Training Closure &amp; Final Settlement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Marks Closure: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issued to participants, training records archived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participant fees collected (100% or partial recovery documented with reason)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final settlement: cost estimate variance, actual expenditure recorded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attendance &amp; teaching hours confirmed in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340614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 (Trainer): Final Settlement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4658" y="3832859"/>
            <a:ext cx="8546124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views final revenue share: 80% (at invoice) + 20% (at payment) = Total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raise complaint if revenue share % differs from allocation or data inconsistent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final metrics: Training conducted, participants trained, revenue earned, surplus per training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Multi-Trainer Revenue Sharing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3-Day Training Programme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Trainer (Officer A):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(delivers 2 days)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Co-Trainer (Officer B):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 (delivers 0.5 days)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(Officer C):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10% (administrative)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98323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Calculation (42 participants × ₹5,000 = ₹2.1 lakhs):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8725" y="3409950"/>
            <a:ext cx="8447649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× ₹2.1 lakhs = ₹1.26 lakhs (80% at invoice = ₹1.008 lakh + 20% at payment = ₹0.252 lakh)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B: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 × ₹2.1 lakhs = ₹0.63 lakhs (split 80-20)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10% × ₹2.1 lakhs = ₹0.21 lakhs (split 80-20)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tracked in system; grievance escalation available if trainer disputes allocation 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MIS Metrics per Officer/Trainer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Metrics (Stage 1-2):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Programmes assigned as trainer (primary or co-trainer or coordinator)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Programmes with applications received (registered)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560323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Post-Revenue Metrics (Stage 3-5):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87041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Trainings Conducted (completed trainings)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Participants Trained (sum across all trainings conducted)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Training Revenue Earned (officer share: 80% + 20% = 100%)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Participant (training revenue ÷ total participants trained)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Utilization (hours trained ÷ available working hours)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 Rate (actual participants attending ÷ registered)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 Consulting Activity Types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Assignment: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5674" y="1676400"/>
            <a:ext cx="7978726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Client-specific, fixed scope &amp; revenue from start (Work Order)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defined upfront; milestones for delivery; invoicing per milestone/instalment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% allocation static across work order lifecycle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98323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5674" y="3289935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Open/public programme; revenue depends on actual participant enrollment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Budgeted revenue vs Actual revenue (based on attendance)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trainers with different roles; % allocation may vary by programme stage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settlement after training completion &amp; participant payment confirmation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same 80-20 model, grievance, FY-linking, audit trail in PMS portal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32825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Module Data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672907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Tables for Training: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7" y="1099625"/>
            <a:ext cx="8611303" cy="323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Programme number, title, dates, location, budgeted participants, fee per participant, total budgeted revenue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Allocation: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Trainer (officer), role (primary/co/coordinator), allocation %, programme ID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Application: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Applicant name, programme ID, application date, status (approved/waitlist/rejected)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Completion: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Programme ID, actual participants attended, training dates, feedback scores, certificate issued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Invoice: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Links to Programme, actual revenue (participants × fee), 80% invoice recognition, 20% payment realization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0089" y="3941889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to Main PMS: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" y="4334315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Programme = Special Work Order; links to Assignment, Team Allocation,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Estimate, Invoice, Tally cost centre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13833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Training Workflow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2880" y="778414"/>
            <a:ext cx="8686800" cy="296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Announced (Jan 15):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"Leadership Development 2026" (50 participants, ₹5,000/participant), trainers allocated (Officer A 60%, Officer B 30%, Officer C 10%)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Window (Jan 15-31):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applications received, approved; actual revenue anticipated = 45 × ₹5,000 = ₹2.25 lakhs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Conducted (Feb 10-12):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42 participants attended (3 absent); Trainers provide feedback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Raised (Feb 15, FY 2025-26):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42 × ₹5,000 = ₹2.1 lakhs; Finance verifies &amp; approves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Revenue Recognized: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A: 60% × ₹2.1 = ₹1.26 lakhs → 80% = ₹1.008 lakh credited immediately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Received (Mar 10):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Participants pay ₹2.1 lakhs; Finance updates receipt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Revenue Allocated (Auto):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A: 20% of ₹1.26 = ₹0.252 lakh auto-credited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(Mar 15):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Certificates issued, MIS updated: 1 training conducted, 42 participants trained, ₹1.26 lakhs earned by Officer 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 Estimate &amp; Expenditure Tracking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 Heads for Training: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Honorarium: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trainer fee, co-trainer fee, coordinator fee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Materials: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Handouts, workbooks, online course development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&amp; Logistics: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Hall rent, catering, travel for trainers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Certificate preparation &amp; issuance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Admin/Miscellaneous: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Registration staff, communication, contingency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38290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Calculation: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255768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Margin = Total Revenue (participant fees) − Total Expenditure; Margin per Participant = Training Margin ÷ Participants Attended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9915" y="1335407"/>
            <a:ext cx="5364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78931" y="2143268"/>
            <a:ext cx="6656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Module: 5-Stage Lifecycle &amp; Revenue Tracking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684143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Announcement | Participant Registration | </a:t>
            </a:r>
          </a:p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Delivery | Revenue Recognition | Closure &amp; MIS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1596</Words>
  <Application>Microsoft Office PowerPoint</Application>
  <PresentationFormat>On-screen Show (16:9)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Vijay Kumar</cp:lastModifiedBy>
  <cp:revision>8</cp:revision>
  <dcterms:created xsi:type="dcterms:W3CDTF">2026-01-18T03:22:57Z</dcterms:created>
  <dcterms:modified xsi:type="dcterms:W3CDTF">2026-01-18T03:36:57Z</dcterms:modified>
</cp:coreProperties>
</file>